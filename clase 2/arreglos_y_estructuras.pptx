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71411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2343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9875520" y="3291840"/>
            <a:ext cx="3840480" cy="384048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 DE DATOS EN C++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8686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Arreglos y Estructuras (struct)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3794760"/>
            <a:ext cx="128016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731520" y="3977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veremos hoy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  <a:effectLst>
            <a:outerShdw blurRad="101600" dist="38100" dir="5400000" algn="bl" rotWithShape="0">
              <a:srgbClr val="1B2B2C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" name="Image 0" descr="/home/claude/icon_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9385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514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Arreglos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77240" y="2898648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Definicion, sintaxis y ejemplo de uso en C++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97680" y="16002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  <a:effectLst>
            <a:outerShdw blurRad="101600" dist="38100" dir="5400000" algn="bl" rotWithShape="0">
              <a:srgbClr val="1B2B2C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Shape 7"/>
          <p:cNvSpPr/>
          <p:nvPr/>
        </p:nvSpPr>
        <p:spPr>
          <a:xfrm>
            <a:off x="4526280" y="18288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1" name="Image 1" descr="/home/claude/icon_lay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6008" y="193852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514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Estructuras (struct)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26280" y="2898648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son, para que sirven y como se declaran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160020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  <a:effectLst>
            <a:outerShdw blurRad="101600" dist="38100" dir="5400000" algn="bl" rotWithShape="0">
              <a:srgbClr val="1B2B2C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5" name="Shape 11"/>
          <p:cNvSpPr/>
          <p:nvPr/>
        </p:nvSpPr>
        <p:spPr>
          <a:xfrm>
            <a:off x="8275320" y="182880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6" name="Image 2" descr="/home/claude/icon_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193852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251460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 con funciones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75320" y="2898648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Constructores y metodos dentro de una estructura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02336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  <a:effectLst>
            <a:outerShdw blurRad="101600" dist="38100" dir="5400000" algn="bl" rotWithShape="0">
              <a:srgbClr val="1B2B2C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5"/>
          <p:cNvSpPr/>
          <p:nvPr/>
        </p:nvSpPr>
        <p:spPr>
          <a:xfrm>
            <a:off x="777240" y="42519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1" name="Image 3" descr="/home/claude/icon_diagra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436168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937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 con punteros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77240" y="5321808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con el operador flecha y paso por referencia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297680" y="402336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  <a:effectLst>
            <a:outerShdw blurRad="101600" dist="38100" dir="5400000" algn="bl" rotWithShape="0">
              <a:srgbClr val="1B2B2C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5" name="Shape 19"/>
          <p:cNvSpPr/>
          <p:nvPr/>
        </p:nvSpPr>
        <p:spPr>
          <a:xfrm>
            <a:off x="4526280" y="42519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6" name="Image 4" descr="/home/claude/icon_cub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6008" y="4361688"/>
            <a:ext cx="329184" cy="32918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26280" y="4937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Arreglos de estructuras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526280" y="5321808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Combinando ambos temas en un solo programa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46720" y="402336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  <a:effectLst>
            <a:outerShdw blurRad="101600" dist="38100" dir="5400000" algn="bl" rotWithShape="0">
              <a:srgbClr val="1B2B2C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0" name="Shape 23"/>
          <p:cNvSpPr/>
          <p:nvPr/>
        </p:nvSpPr>
        <p:spPr>
          <a:xfrm>
            <a:off x="8275320" y="425196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1" name="Image 5" descr="/home/claude/icon_task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5048" y="4361688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75320" y="4937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Ejercicio resuelto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8275320" y="5321808"/>
            <a:ext cx="3063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practico de canales de television y rating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ARREGLOS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es un arreglo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5778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arreglo es una coleccion de datos del mismo tipo </a:t>
            </a:r>
            <a:r>
              <a:rPr lang="en-US" sz="150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se almacenan bajo un mismo nombre y se distinguen por un indice</a:t>
            </a:r>
            <a:r>
              <a:rPr lang="en-US" sz="15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endParaRPr lang="en-US" sz="15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guardar muchos valores relacionados sin tener que crear una variable distinta para cada uno.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3703320"/>
            <a:ext cx="5577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indice siempre comienza en cero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elementos ocupan espacio contiguo en memoria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tamaño se define al declarar el arreglo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46520" y="1554480"/>
            <a:ext cx="5166360" cy="4206240"/>
          </a:xfrm>
          <a:prstGeom prst="roundRect">
            <a:avLst>
              <a:gd name="adj" fmla="val 1739"/>
            </a:avLst>
          </a:prstGeom>
          <a:solidFill>
            <a:srgbClr val="02343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676656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66560" y="214884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notas[5];</a:t>
            </a:r>
            <a:endParaRPr lang="en-US" sz="1450" dirty="0"/>
          </a:p>
          <a:p>
            <a:pPr marL="0" indent="0">
              <a:lnSpc>
                <a:spcPts val="2200"/>
              </a:lnSpc>
              <a:buNone/>
            </a:pPr>
            <a:endParaRPr lang="en-US" sz="14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notas[0] = 65;</a:t>
            </a:r>
            <a:endParaRPr lang="en-US" sz="14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notas[1] = 72;</a:t>
            </a:r>
            <a:endParaRPr lang="en-US" sz="14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notas[2] = 58;</a:t>
            </a:r>
            <a:endParaRPr lang="en-US" sz="1450" dirty="0"/>
          </a:p>
          <a:p>
            <a:pPr marL="0" indent="0">
              <a:lnSpc>
                <a:spcPts val="2200"/>
              </a:lnSpc>
              <a:buNone/>
            </a:pPr>
            <a:endParaRPr lang="en-US" sz="14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5; i++) {</a:t>
            </a:r>
            <a:endParaRPr lang="en-US" sz="14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cout &lt;&lt; notas[i] &lt;&lt; endl;</a:t>
            </a:r>
            <a:endParaRPr lang="en-US" sz="14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ARREGLOS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Declaracion y recorrido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Sintaxis general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120640" cy="1188720"/>
          </a:xfrm>
          <a:prstGeom prst="roundRect">
            <a:avLst>
              <a:gd name="adj" fmla="val 6154"/>
            </a:avLst>
          </a:prstGeom>
          <a:solidFill>
            <a:srgbClr val="02343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 nombreArreglo[tamaño];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 nombreArreglo[tamaño] = {v1, v2, v3};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Recorrer un arreglo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02343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777240" y="3840480"/>
            <a:ext cx="4663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suma = 0;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tamaño; i++) {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suma = suma + arreglo[i];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 &lt;&lt; "Suma total: " &lt;&lt; suma;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12648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arreglo en memoria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26480" y="2194560"/>
            <a:ext cx="868680" cy="868680"/>
          </a:xfrm>
          <a:prstGeom prst="roundRect">
            <a:avLst>
              <a:gd name="adj" fmla="val 6316"/>
            </a:avLst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6126480" y="21945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126480" y="313639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04888" y="2194560"/>
            <a:ext cx="868680" cy="868680"/>
          </a:xfrm>
          <a:prstGeom prst="roundRect">
            <a:avLst>
              <a:gd name="adj" fmla="val 6316"/>
            </a:avLst>
          </a:prstGeom>
          <a:solidFill>
            <a:srgbClr val="02C39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7104888" y="21945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104888" y="313639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83296" y="2194560"/>
            <a:ext cx="868680" cy="868680"/>
          </a:xfrm>
          <a:prstGeom prst="roundRect">
            <a:avLst>
              <a:gd name="adj" fmla="val 6316"/>
            </a:avLst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8083296" y="21945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083296" y="313639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61704" y="2194560"/>
            <a:ext cx="868680" cy="868680"/>
          </a:xfrm>
          <a:prstGeom prst="roundRect">
            <a:avLst>
              <a:gd name="adj" fmla="val 6316"/>
            </a:avLst>
          </a:prstGeom>
          <a:solidFill>
            <a:srgbClr val="02C39A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9061704" y="21945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061704" y="313639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[3]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040112" y="2194560"/>
            <a:ext cx="868680" cy="868680"/>
          </a:xfrm>
          <a:prstGeom prst="roundRect">
            <a:avLst>
              <a:gd name="adj" fmla="val 6316"/>
            </a:avLst>
          </a:prstGeom>
          <a:solidFill>
            <a:srgbClr val="00A896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10040112" y="219456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040112" y="3136392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[4]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126480" y="3703320"/>
            <a:ext cx="54406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  <a:effectLst>
            <a:outerShdw blurRad="101600" dist="38100" dir="5400000" algn="bl" rotWithShape="0">
              <a:srgbClr val="1B2B2C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6355080" y="3931920"/>
            <a:ext cx="4983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notas[2] accede directamente al tercer valor guardado, sin recorrer los anteriores. Esa es la gran ventaja del indice.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es un struct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50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estructura agrupa varios datos que mantienen algun tipo de relacion aunque sean de distinto tipo.
Permite manipularlos todos juntos usando un mismo identificador o cada uno por separado.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657600"/>
            <a:ext cx="521208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2700">
            <a:solidFill>
              <a:srgbClr val="DCEBE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6" name="Image 0" descr="/home/claude/icon_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913632"/>
            <a:ext cx="457200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3867912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8" name="Image 1" descr="/home/claude/icon_lay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3977640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3794760"/>
            <a:ext cx="4023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Tambien se llaman registros o records. Cada dato dentro de la estructura se llama campo o field.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612648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registro con varios campos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126480" y="2103120"/>
            <a:ext cx="5440680" cy="3291840"/>
          </a:xfrm>
          <a:prstGeom prst="roundRect">
            <a:avLst>
              <a:gd name="adj" fmla="val 2778"/>
            </a:avLst>
          </a:prstGeom>
          <a:solidFill>
            <a:srgbClr val="02343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8"/>
          <p:cNvSpPr/>
          <p:nvPr/>
        </p:nvSpPr>
        <p:spPr>
          <a:xfrm>
            <a:off x="6355080" y="23317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TipoPersona</a:t>
            </a:r>
            <a:endParaRPr lang="en-US" sz="1500" dirty="0"/>
          </a:p>
        </p:txBody>
      </p:sp>
      <p:sp>
        <p:nvSpPr>
          <p:cNvPr id="13" name="Shape 9"/>
          <p:cNvSpPr/>
          <p:nvPr/>
        </p:nvSpPr>
        <p:spPr>
          <a:xfrm>
            <a:off x="6355080" y="2834640"/>
            <a:ext cx="4937760" cy="548640"/>
          </a:xfrm>
          <a:prstGeom prst="roundRect">
            <a:avLst>
              <a:gd name="adj" fmla="val 10000"/>
            </a:avLst>
          </a:prstGeom>
          <a:solidFill>
            <a:srgbClr val="0B4A4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0"/>
          <p:cNvSpPr/>
          <p:nvPr/>
        </p:nvSpPr>
        <p:spPr>
          <a:xfrm>
            <a:off x="6537960" y="28346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nombre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8961120" y="28346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char[30]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355080" y="3520440"/>
            <a:ext cx="4937760" cy="548640"/>
          </a:xfrm>
          <a:prstGeom prst="roundRect">
            <a:avLst>
              <a:gd name="adj" fmla="val 10000"/>
            </a:avLst>
          </a:prstGeom>
          <a:solidFill>
            <a:srgbClr val="0B4A4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3"/>
          <p:cNvSpPr/>
          <p:nvPr/>
        </p:nvSpPr>
        <p:spPr>
          <a:xfrm>
            <a:off x="6537960" y="3520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direccion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8961120" y="35204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char[30]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355080" y="4206240"/>
            <a:ext cx="4937760" cy="548640"/>
          </a:xfrm>
          <a:prstGeom prst="roundRect">
            <a:avLst>
              <a:gd name="adj" fmla="val 10000"/>
            </a:avLst>
          </a:prstGeom>
          <a:solidFill>
            <a:srgbClr val="0B4A4C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6"/>
          <p:cNvSpPr/>
          <p:nvPr/>
        </p:nvSpPr>
        <p:spPr>
          <a:xfrm>
            <a:off x="6537960" y="42062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edad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8961120" y="42062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355080" y="49377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persona;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Sintaxis y acceso a los campos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02343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[ &lt;identificador&gt; ] {</a:t>
            </a:r>
            <a:endParaRPr lang="en-US" sz="14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 &lt;tipo&gt; &lt;nombre_objeto&gt; [, &lt;nombre_objeto&gt;, ...] ];</a:t>
            </a:r>
            <a:endParaRPr lang="en-US" sz="145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[ &lt;objeto_estructura&gt; [, &lt;objeto_estructura&gt;, ...] ];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Ejemplo declarado y en uso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  <a:effectLst>
            <a:outerShdw blurRad="101600" dist="38100" dir="5400000" algn="bl" rotWithShape="0">
              <a:srgbClr val="1B2B2C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48920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TipoPersona {
</a:t>
            </a:r>
            <a:r>
              <a:rPr lang="en-US" sz="1350" dirty="0">
                <a:solidFill>
                  <a:srgbClr val="1B2B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char nombre[30];
    char direccion[30];
    int edad;
</a:t>
            </a:r>
            <a:r>
              <a:rPr lang="en-US" sz="135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
</a:t>
            </a:r>
            <a:r>
              <a:rPr lang="en-US" sz="1350" dirty="0">
                <a:solidFill>
                  <a:srgbClr val="1B2B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TipoPersona persona;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342900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  <a:effectLst>
            <a:outerShdw blurRad="101600" dist="38100" dir="5400000" algn="bl" rotWithShape="0">
              <a:srgbClr val="1B2B2C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6492240" y="3611880"/>
            <a:ext cx="489204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5B6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acceso con el operador punto
</a:t>
            </a:r>
            <a:r>
              <a:rPr lang="en-US" sz="1350" dirty="0">
                <a:solidFill>
                  <a:srgbClr val="1B2B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cin &gt;&gt; persona.edad;
cout &lt;&lt; persona.nombre;
cout &lt;&lt; persona.edad;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 con constructor y funciones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struct en C++ tambien puede tener un constructor que asigna valores iniciales y funciones propias que operan sobre sus campos.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6766560" cy="4023360"/>
          </a:xfrm>
          <a:prstGeom prst="roundRect">
            <a:avLst>
              <a:gd name="adj" fmla="val 1818"/>
            </a:avLst>
          </a:prstGeom>
          <a:solidFill>
            <a:srgbClr val="02343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63093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TipoPunto {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x, y;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TipoPunto() {          // constructor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 = 0; y = 0;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AsignarX(int n) { x = n; }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AsignarY(int n) { y = n; }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SumarXY() {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(x + y);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3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30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498080" y="228600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4FAF9"/>
          </a:solidFill>
          <a:ln w="12700">
            <a:solidFill>
              <a:srgbClr val="DCEBE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772668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MAIN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26680" y="2834640"/>
            <a:ext cx="36576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2B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TipoPunto puntoRojo;
puntoRojo.AsignarX(11);
puntoRojo.AsignarY(24);
</a:t>
            </a:r>
            <a:r>
              <a:rPr lang="en-US" sz="1300" b="1" dirty="0">
                <a:solidFill>
                  <a:srgbClr val="0280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cout &lt;&lt; puntoRojo.SumarXY();
</a:t>
            </a:r>
            <a:r>
              <a:rPr lang="en-US" sz="1300" i="1" dirty="0">
                <a:solidFill>
                  <a:srgbClr val="5B6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imprime 35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 con punteros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se tiene un puntero a una estructura, se puede acceder a sus campos de dos formas equivalentes.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  <a:effectLst>
            <a:outerShdw blurRad="101600" dist="38100" dir="5400000" algn="bl" rotWithShape="0">
              <a:srgbClr val="1B2B2C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 1: desreferenciar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2651760"/>
            <a:ext cx="4800600" cy="777240"/>
          </a:xfrm>
          <a:prstGeom prst="roundRect">
            <a:avLst>
              <a:gd name="adj" fmla="val 7059"/>
            </a:avLst>
          </a:prstGeom>
          <a:solidFill>
            <a:srgbClr val="02343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1005840" y="2743200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(*p).x = 3;</a:t>
            </a:r>
            <a:endParaRPr lang="en-US" sz="13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(*p).y = 7.5;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desreferencia el puntero y luego se usa el punto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214884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  <a:effectLst>
            <a:outerShdw blurRad="101600" dist="38100" dir="5400000" algn="bl" rotWithShape="0">
              <a:srgbClr val="1B2B2C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6400800" y="22860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 2: operador flecha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0" y="2651760"/>
            <a:ext cx="4800600" cy="777240"/>
          </a:xfrm>
          <a:prstGeom prst="roundRect">
            <a:avLst>
              <a:gd name="adj" fmla="val 7059"/>
            </a:avLst>
          </a:prstGeom>
          <a:solidFill>
            <a:srgbClr val="02343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6583680" y="2743200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p-&gt;x = 3;</a:t>
            </a:r>
            <a:endParaRPr lang="en-US" sz="13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35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p-&gt;y = 7.5;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0" y="35204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mas usada y directa en C++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11064240" cy="1965960"/>
          </a:xfrm>
          <a:prstGeom prst="roundRect">
            <a:avLst>
              <a:gd name="adj" fmla="val 3721"/>
            </a:avLst>
          </a:prstGeom>
          <a:solidFill>
            <a:srgbClr val="02343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822960" y="4343400"/>
            <a:ext cx="10424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Registro { int x; float y; char z; };
Registro R;
Registro *p;
p = &amp;R;              </a:t>
            </a:r>
            <a:r>
              <a:rPr lang="en-US" sz="1400" i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 apunta a la direccion de R
</a:t>
            </a:r>
            <a:r>
              <a:rPr lang="en-US" sz="140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p-&gt;x = 3; p-&gt;y = 7.5; p-&gt;z = 'A';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UNIENDO AMBOS TEMAS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Arreglos de estructuras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arreglo puede almacenar varias estructuras del mismo tipo. Cada posicion del arreglo es un registro completo, con todos sus campos.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02343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777240" y="2926080"/>
            <a:ext cx="49377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Canal {
</a:t>
            </a:r>
            <a:r>
              <a:rPr lang="en-US" sz="130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nombre;
    float rating;
</a:t>
            </a:r>
            <a:r>
              <a:rPr lang="en-US" sz="13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
</a:t>
            </a:r>
            <a:r>
              <a:rPr lang="en-US" sz="130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Canal canales[5];   </a:t>
            </a:r>
            <a:r>
              <a:rPr lang="en-US" sz="1300" i="1" dirty="0">
                <a:solidFill>
                  <a:srgbClr val="5B6E6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arreglo de structs
</a:t>
            </a:r>
            <a:r>
              <a:rPr lang="en-US" sz="130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canales[0].nombre = "TVN";
canales[0].rating = 4.2;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21792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posicion guarda un registro completo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210312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  <a:effectLst>
            <a:outerShdw blurRad="76200" dist="25400" dir="5400000" algn="bl" rotWithShape="0">
              <a:srgbClr val="1B2B2C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6217920" y="2103120"/>
            <a:ext cx="777240" cy="86868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6217920" y="2103120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[0]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78040" y="22128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78040" y="2560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de television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966960" y="221284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966960" y="246888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17920" y="315468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  <a:effectLst>
            <a:outerShdw blurRad="76200" dist="25400" dir="5400000" algn="bl" rotWithShape="0">
              <a:srgbClr val="1B2B2C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6217920" y="3154680"/>
            <a:ext cx="777240" cy="86868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217920" y="3154680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78040" y="326440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CHV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178040" y="3611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de television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966960" y="32644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966960" y="35204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3.9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217920" y="420624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EBE9"/>
            </a:solidFill>
            <a:prstDash val="solid"/>
          </a:ln>
          <a:effectLst>
            <a:outerShdw blurRad="76200" dist="25400" dir="5400000" algn="bl" rotWithShape="0">
              <a:srgbClr val="1B2B2C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3" name="Shape 21"/>
          <p:cNvSpPr/>
          <p:nvPr/>
        </p:nvSpPr>
        <p:spPr>
          <a:xfrm>
            <a:off x="6217920" y="4206240"/>
            <a:ext cx="777240" cy="868680"/>
          </a:xfrm>
          <a:prstGeom prst="roundRect">
            <a:avLst>
              <a:gd name="adj" fmla="val 9412"/>
            </a:avLst>
          </a:prstGeom>
          <a:solidFill>
            <a:srgbClr val="02C39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6217920" y="4206240"/>
            <a:ext cx="777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78040" y="43159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17804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de television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966960" y="431596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966960" y="45720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A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RESUELTO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 practico: canales de television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64792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548640" y="17647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00100" y="2267712"/>
            <a:ext cx="0" cy="338328"/>
          </a:xfrm>
          <a:prstGeom prst="line">
            <a:avLst/>
          </a:prstGeom>
          <a:noFill/>
          <a:ln w="25400">
            <a:solidFill>
              <a:srgbClr val="B9DAD7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1234440" y="16916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Canal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2020824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del canal y rating dentro de un solo struct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660904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548640" y="26609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0100" y="3163824"/>
            <a:ext cx="0" cy="338328"/>
          </a:xfrm>
          <a:prstGeom prst="line">
            <a:avLst/>
          </a:prstGeom>
          <a:noFill/>
          <a:ln w="25400">
            <a:solidFill>
              <a:srgbClr val="B9DAD7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1234440" y="258775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Ingreso por teclado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91693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primeros 3 canales se cargan por pantalla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557016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548640" y="35570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00100" y="4059936"/>
            <a:ext cx="0" cy="338328"/>
          </a:xfrm>
          <a:prstGeom prst="line">
            <a:avLst/>
          </a:prstGeom>
          <a:noFill/>
          <a:ln w="25400">
            <a:solidFill>
              <a:srgbClr val="B9DAD7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1234440" y="348386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Ingreso por constructor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381304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ultimos 2 canales se cargan con el constructor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45312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548640" y="4453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00100" y="4956048"/>
            <a:ext cx="0" cy="338328"/>
          </a:xfrm>
          <a:prstGeom prst="line">
            <a:avLst/>
          </a:prstGeom>
          <a:noFill/>
          <a:ln w="25400">
            <a:solidFill>
              <a:srgbClr val="B9DAD7"/>
            </a:solidFill>
            <a:prstDash val="dash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1234440" y="437997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Mostrar un canal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34440" y="47091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 que imprime nombre y rating de un canal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34924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Text 23"/>
          <p:cNvSpPr/>
          <p:nvPr/>
        </p:nvSpPr>
        <p:spPr>
          <a:xfrm>
            <a:off x="548640" y="5349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34440" y="527608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Promedio y mayor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34440" y="5605272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 que recorre el arreglo y calcula ambos valores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172200" y="1691640"/>
            <a:ext cx="5440680" cy="4617720"/>
          </a:xfrm>
          <a:prstGeom prst="roundRect">
            <a:avLst>
              <a:gd name="adj" fmla="val 1584"/>
            </a:avLst>
          </a:prstGeom>
          <a:solidFill>
            <a:srgbClr val="02343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Text 27"/>
          <p:cNvSpPr/>
          <p:nvPr/>
        </p:nvSpPr>
        <p:spPr>
          <a:xfrm>
            <a:off x="6400800" y="1874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canales.cpp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0" y="2240280"/>
            <a:ext cx="502920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Canal {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nombre;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float rating;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Canal() {...}          // por defecto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Canal(string n, float r) {...}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Canal canales[5];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ingresarPorTeclado(canales, 3);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canales[3] = Canal("Deportivo", 4.5);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canales[4] = Canal("Noticias", 3.8);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mostrarTodos(canales, 5);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E4F7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calcularEstadisticas(canales, 5);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E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3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5486400" cy="54864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8686800" y="-1645920"/>
            <a:ext cx="4572000" cy="457200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RESUMEN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arreglos guardan muchos datos del mismo tipo</a:t>
            </a:r>
            <a:endParaRPr lang="en-US" sz="3000" dirty="0"/>
          </a:p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los struct agrupan datos de distinto tipo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CF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Juntos permiten modelar informacion real como un listado de canales, personas o cualquier registro con varios campos.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297680"/>
            <a:ext cx="1280160" cy="0"/>
          </a:xfrm>
          <a:prstGeom prst="line">
            <a:avLst/>
          </a:prstGeom>
          <a:noFill/>
          <a:ln w="381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73152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CF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 |  Cualquier duda la revisamos con el codigo de canales.cpp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1092</Words>
  <Application>Microsoft Office PowerPoint</Application>
  <PresentationFormat>Panorámica</PresentationFormat>
  <Paragraphs>188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julio llanos</cp:lastModifiedBy>
  <cp:revision>2</cp:revision>
  <dcterms:created xsi:type="dcterms:W3CDTF">2026-08-12T22:46:29Z</dcterms:created>
  <dcterms:modified xsi:type="dcterms:W3CDTF">2026-08-13T03:05:11Z</dcterms:modified>
</cp:coreProperties>
</file>